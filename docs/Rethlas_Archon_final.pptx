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PART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架构总览：Agent · Tool · Skill 三分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一个自主探索数学问题、产出自然语言证明的 AI 系统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1600200"/>
            <a:ext cx="1417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600200"/>
            <a:ext cx="54864" cy="777240"/>
          </a:xfrm>
          <a:prstGeom prst="rect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892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构造例子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16152" y="22037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从具体案例找规律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78608" y="1600200"/>
            <a:ext cx="1417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608" y="1600200"/>
            <a:ext cx="54864" cy="777240"/>
          </a:xfrm>
          <a:prstGeom prst="rect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892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构造反例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2037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检验结论是否脆弱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05656" y="1600200"/>
            <a:ext cx="1417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05656" y="1600200"/>
            <a:ext cx="54864" cy="777240"/>
          </a:xfrm>
          <a:prstGeom prst="rect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1892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搜索结果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70248" y="22037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查定理 / 背景 / 引用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32704" y="1600200"/>
            <a:ext cx="1417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32704" y="1600200"/>
            <a:ext cx="54864" cy="777240"/>
          </a:xfrm>
          <a:prstGeom prst="rect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7296" y="1892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提出分解计划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97296" y="22037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把大问题切成子目标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59752" y="1600200"/>
            <a:ext cx="1417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9752" y="1600200"/>
            <a:ext cx="54864" cy="777240"/>
          </a:xfrm>
          <a:prstGeom prst="rect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1892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识别关键失败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24344" y="22037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总结失败模式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2971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1560" y="2606040"/>
            <a:ext cx="3200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2606040"/>
            <a:ext cx="54864" cy="96012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6152" y="2697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生成证明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216152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Agent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16152" y="320954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长对话循环的 LLM，按 skills 指导自主决策下一步：搜索 / 构造 / 推理 / 分解。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606040"/>
            <a:ext cx="3200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606040"/>
            <a:ext cx="54864" cy="96012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697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审阅证明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19472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Agent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19472" y="320954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独立的 LLM，核查逻辑步骤、引用的定理是否存在且适用、假设是否真被用到。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0" y="2926080"/>
            <a:ext cx="411480" cy="0"/>
          </a:xfrm>
          <a:prstGeom prst="line">
            <a:avLst/>
          </a:prstGeom>
          <a:noFill/>
          <a:ln w="15240">
            <a:solidFill>
              <a:srgbClr val="2C262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4297680" y="3246120"/>
            <a:ext cx="411480" cy="0"/>
          </a:xfrm>
          <a:prstGeom prst="line">
            <a:avLst/>
          </a:prstGeom>
          <a:noFill/>
          <a:ln w="15240">
            <a:solidFill>
              <a:srgbClr val="2C262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160520" y="33558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反馈循环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069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417320" y="3794760"/>
            <a:ext cx="2148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17320" y="3794760"/>
            <a:ext cx="54864" cy="777240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81912" y="4087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Matlas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581912" y="439826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1360 万条数学陈述的语义检索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749040" y="3794760"/>
            <a:ext cx="2148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0" y="3794760"/>
            <a:ext cx="54864" cy="777240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3632" y="4087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Search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913632" y="439826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补充背景、追引用链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80760" y="3794760"/>
            <a:ext cx="2148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3794760"/>
            <a:ext cx="54864" cy="777240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45352" y="40873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245352" y="439826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文件系统持久化跨轮状态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26080" y="4645152"/>
            <a:ext cx="164592" cy="164592"/>
          </a:xfrm>
          <a:prstGeom prst="ellipse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智能体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26280" y="4645152"/>
            <a:ext cx="164592" cy="164592"/>
          </a:xfrm>
          <a:prstGeom prst="ellipse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45736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· 工具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89320" y="4645152"/>
            <a:ext cx="164592" cy="164592"/>
          </a:xfrm>
          <a:prstGeom prst="ellipse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08776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技能手册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架构总览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PART 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走一遍：一个开放性问题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问题：是否存在无理数 a, b，使得 a^b 是有理数？（Rethlas 事先并不知道答案）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2468880" cy="3246120"/>
          </a:xfrm>
          <a:prstGeom prst="rect">
            <a:avLst/>
          </a:prstGeom>
          <a:solidFill>
            <a:srgbClr val="F7F3EB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324612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开放性猜想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2331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44A"/>
                </a:solidFill>
              </a:rPr>
              <a:t>证明或否证：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∃ 无理数 a, b，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使得 a</a:t>
            </a:r>
            <a:pPr indent="0" marL="0">
              <a:buNone/>
            </a:pPr>
            <a:r>
              <a:rPr lang="en-US" sz="900" baseline="30000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300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∈ 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3520440"/>
            <a:ext cx="219456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566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挑战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3794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不知道答案方向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要同时考虑证明 + 反例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搜索空间无界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673352"/>
            <a:ext cx="292608" cy="292608"/>
          </a:xfrm>
          <a:prstGeom prst="ellipse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160020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 </a:t>
            </a:r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搜索结果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Agent 调 Matlas 查「无理数的无理次方」</a:t>
            </a:r>
            <a:pPr indent="0" marL="0">
              <a:buNone/>
            </a:pPr>
            <a:r>
              <a:rPr lang="en-US" sz="1000" i="1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发现 Gelfond–Schneider 定理、Hilbert 第七问题背景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54680" y="2221992"/>
            <a:ext cx="292608" cy="292608"/>
          </a:xfrm>
          <a:prstGeom prst="ellipse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14884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 </a:t>
            </a:r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构造例子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初步构造：考察 √2^√2 这个具体对象</a:t>
            </a:r>
            <a:pPr indent="0" marL="0">
              <a:buNone/>
            </a:pPr>
            <a:r>
              <a:rPr lang="en-US" sz="1000" i="1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Agent 意识到其有理性未知，但无论哪种情况都能利用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54680" y="2770632"/>
            <a:ext cx="292608" cy="292608"/>
          </a:xfrm>
          <a:prstGeom prst="ellipse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269748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 </a:t>
            </a:r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提出分解计划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一次产出 3 个 Plans，并行考虑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54680" y="3319272"/>
            <a:ext cx="292608" cy="292608"/>
          </a:xfrm>
          <a:prstGeom prst="ellipse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324612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 </a:t>
            </a:r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直接证明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B：若 √2^√2 ∈ ℚ，则取 a=b=√2；否则取 a=√2^√2, b=√2，</a:t>
            </a:r>
            <a:pPr indent="0" marL="0">
              <a:buNone/>
            </a:pPr>
            <a:r>
              <a:rPr lang="en-US" sz="1000" i="1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得 a^b = (√2^√2)^√2 = √2² = 2 ∈ ℚ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54680" y="3867912"/>
            <a:ext cx="292608" cy="292608"/>
          </a:xfrm>
          <a:prstGeom prst="ellipse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79476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</a:t>
            </a:r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Agent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独立审阅：核查「√2 无理」的引用、分类讨论是否完备、未用假设是否可疑</a:t>
            </a:r>
            <a:pPr indent="0" marL="0">
              <a:buNone/>
            </a:pPr>
            <a:r>
              <a:rPr lang="en-US" sz="1000" i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通过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54680" y="4416552"/>
            <a:ext cx="292608" cy="292608"/>
          </a:xfrm>
          <a:prstGeom prst="ellipse">
            <a:avLst/>
          </a:prstGeom>
          <a:solidFill>
            <a:srgbClr val="B5784A"/>
          </a:solidFill>
          <a:ln w="12700">
            <a:solidFill>
              <a:srgbClr val="B578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434340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5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候选证明输出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 Markdown 自然语言证明，所有引用定理标注清晰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2734056"/>
            <a:ext cx="502920" cy="201168"/>
          </a:xfrm>
          <a:prstGeom prst="rect">
            <a:avLst/>
          </a:prstGeom>
          <a:solidFill>
            <a:srgbClr val="EEE9DD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734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5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0" y="2734056"/>
            <a:ext cx="502920" cy="201168"/>
          </a:xfrm>
          <a:prstGeom prst="rect">
            <a:avLst/>
          </a:prstGeom>
          <a:solidFill>
            <a:srgbClr val="6B8B6F"/>
          </a:solidFill>
          <a:ln w="6350">
            <a:solidFill>
              <a:srgbClr val="6B8B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2734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2734056"/>
            <a:ext cx="502920" cy="201168"/>
          </a:xfrm>
          <a:prstGeom prst="rect">
            <a:avLst/>
          </a:prstGeom>
          <a:solidFill>
            <a:srgbClr val="EEE9DD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2734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5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Session 示例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细节 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当我们说“调用 Skill”时，实际发生了什么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论文里 skill 之间“互相调用”、多 Plan“并行探索”听起来复杂，工程实现其实朴素得多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solidFill>
            <a:srgbClr val="EEE9DD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5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论文里听起来是这样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solidFill>
            <a:srgbClr val="F5E4DA"/>
          </a:solidFill>
          <a:ln w="9525">
            <a:solidFill>
              <a:srgbClr val="C964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剥开一层：实际发生的事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“调用 Skill”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听起来像函数调用，skill 是某个可执行对象。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148840"/>
            <a:ext cx="3931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64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48840"/>
            <a:ext cx="54864" cy="77724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“调用 Skill”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是一份 markdown 指令文档。“调用”要么是预塞在 system prompt 里，要么是一次读文件工具调用。没有代码层的函数调用。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44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“Skill 之间相互调用”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构造例子时“递归调用”搜索技能、分解技能等。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3931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64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71800"/>
            <a:ext cx="54864" cy="77724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044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“Skill 之间相互调用”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实际是同一个 LLM 在同一段输出里混用多种思维模式——既“构造”、也“搜索”、也“分解”。不存在跨 skill 的函数调用链。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3931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67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“多 Plan 并行探索”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同时尝试 3 个独立计划，互不干扰。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794760"/>
            <a:ext cx="3931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64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794760"/>
            <a:ext cx="54864" cy="77724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867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“多 Plan 并行探索”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案例中 Plan B 搜索到 Jensen 的发现直接促成了 Plan D。“发现→影响→新计划”是串行因果链；实际更像是生成并行 + 执行串行。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0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agent 系统时要区分：架构层面的真创新 vs. 把 LLM 单轮能力包装成多阶段叙事（这种“文学化”描述常被夸大）。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Skill 的真相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细节 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几十上百轮探索，Context 为什么不爆炸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案例实际涉及上百次工具调用——四种机制组合保证任务不受 context 上限束缚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39776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7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76479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压缩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20116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对话接近上限时调另一个 LLM 做总结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3134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旧对话 → 简短摘要替换。最近几轮保留原文（推理依赖它们）。是有损压缩：细节会丢，但关键结论保留。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600200"/>
            <a:ext cx="39776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691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7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76479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737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外置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32120" y="20116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关键发现写到文件，不靠对话保留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46320" y="23134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例子、反例、子目标、引理列表 → 持久化到磁盘目录。需要时再读出。文件系统无限大，不受 context 限制。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291840"/>
            <a:ext cx="39776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383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7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45643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切分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280160" y="3703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主动切断对话，开新 session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94360" y="400507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 context 爆了才切，是为了保持性能主动切。论文明说长 context 会让 agent 表现下降。新 session 读 Memory 接着干。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09160" y="3291840"/>
            <a:ext cx="39776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46320" y="3383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7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45643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3212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 分派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532120" y="3703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独立子任务派新 agent 处理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846320" y="400507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 agent 有独立 context，互不影响主 agent。Rethlas 里“多 Plan 并行”有时就是靠多个 subagent 实现。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DEE6EF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94360" y="46360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组合效果  </a:t>
            </a:r>
            <a:pPr indent="0" marL="0">
              <a:buNone/>
            </a:pPr>
            <a:r>
              <a:rPr lang="en-US" sz="1000" dirty="0">
                <a:solidFill>
                  <a:srgbClr val="2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四个机制组合下，系统能处理理论上无限长的任务；“上下文”变成动态管理的多层存储而非单一窗口。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Context 管理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细节 ③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的真实工作粒度 &amp; 何时停止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把“每一小步都在决策”的叙事还原：粒度由工具调用频率决定，终止靠四类条件触发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8229600" cy="1645920"/>
          </a:xfrm>
          <a:prstGeom prst="rect">
            <a:avLst/>
          </a:prstGeom>
          <a:solidFill>
            <a:srgbClr val="F7F3EB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工作粒度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9476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的自然倾向是“一口气做一大段”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423160"/>
            <a:ext cx="7498080" cy="0"/>
          </a:xfrm>
          <a:prstGeom prst="line">
            <a:avLst/>
          </a:prstGeom>
          <a:noFill/>
          <a:ln w="12700">
            <a:solidFill>
              <a:srgbClr val="8A82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7088" y="2350008"/>
            <a:ext cx="146304" cy="146304"/>
          </a:xfrm>
          <a:prstGeom prst="ellipse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41648" y="2350008"/>
            <a:ext cx="146304" cy="146304"/>
          </a:xfrm>
          <a:prstGeom prst="ellipse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2350008"/>
            <a:ext cx="146304" cy="146304"/>
          </a:xfrm>
          <a:prstGeom prst="ellipse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130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 (强制跳出)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2496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LLM 推理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51760" y="2496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LLM 推理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2496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LLM 推理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75120" y="2496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  </a:t>
            </a:r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“跳出”实际上是被工具调用强制触发的——LLM 要么产生文本，要么发起工具调用，一旦决定调工具，当前推理就被中断。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终止条件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6027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整个任务什么时候停下来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1947672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50208"/>
            <a:ext cx="54864" cy="850392"/>
          </a:xfrm>
          <a:prstGeom prst="rect">
            <a:avLst/>
          </a:prstGeom>
          <a:solidFill>
            <a:srgbClr val="6B8B6F"/>
          </a:solidFill>
          <a:ln w="12700">
            <a:solidFill>
              <a:srgbClr val="6B8B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41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任务完成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38912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Agent 接受证明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87168" y="3950208"/>
            <a:ext cx="1947672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87168" y="3950208"/>
            <a:ext cx="54864" cy="850392"/>
          </a:xfrm>
          <a:prstGeom prst="rect">
            <a:avLst/>
          </a:prstGeom>
          <a:solidFill>
            <a:srgbClr val="B5784A"/>
          </a:solidFill>
          <a:ln w="12700">
            <a:solidFill>
              <a:srgbClr val="B578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4328" y="4041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7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35808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预算耗尽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4328" y="438912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时间 / API 次数上限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17136" y="3950208"/>
            <a:ext cx="1947672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17136" y="3950208"/>
            <a:ext cx="54864" cy="850392"/>
          </a:xfrm>
          <a:prstGeom prst="rect">
            <a:avLst/>
          </a:prstGeom>
          <a:solidFill>
            <a:srgbClr val="A65545"/>
          </a:solidFill>
          <a:ln w="12700">
            <a:solidFill>
              <a:srgbClr val="A65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4296" y="4041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5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65776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失败检测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54296" y="438912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反复卡在同一点，Review 主动放弃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47104" y="3950208"/>
            <a:ext cx="1947672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47104" y="3950208"/>
            <a:ext cx="54864" cy="850392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4264" y="4041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7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95744" y="40690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人类干预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84264" y="438912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定期检查进度，走偏时手动修正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Rethlas · 粒度与终止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PART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架构总览：把自然语言证明翻译成 Lean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Agent + 一外援 + LeanSearch / Lean LSP / Memory 等工具链的分工协作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1554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47088"/>
            <a:ext cx="54864" cy="841248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39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450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Mathlib 现有定理 / 定义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1554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79776"/>
            <a:ext cx="54864" cy="841248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72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LSP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与编译器实时对话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1554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12464"/>
            <a:ext cx="54864" cy="841248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05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43159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session 持久化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1847088"/>
            <a:ext cx="3200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1847088"/>
            <a:ext cx="54864" cy="713232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9152" y="1938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战略决策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59152" y="2139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59152" y="2450592"/>
            <a:ext cx="29260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每次启动都是干净 context · 不被失败历史污染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2578608"/>
            <a:ext cx="0" cy="274320"/>
          </a:xfrm>
          <a:prstGeom prst="line">
            <a:avLst/>
          </a:prstGeom>
          <a:noFill/>
          <a:ln w="15240">
            <a:solidFill>
              <a:srgbClr val="2C262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4572000" y="2578608"/>
            <a:ext cx="0" cy="274320"/>
          </a:xfrm>
          <a:prstGeom prst="line">
            <a:avLst/>
          </a:prstGeom>
          <a:noFill/>
          <a:ln w="15240">
            <a:solidFill>
              <a:srgbClr val="2C262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54680" y="26334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派任务书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49040" y="26334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回报卡点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94560" y="2907792"/>
            <a:ext cx="3200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2907792"/>
            <a:ext cx="54864" cy="713232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2999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一线写代码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359152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Agent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359152" y="3511296"/>
            <a:ext cx="29260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长对话循环 · 实际消除 sorry · 与编译器对话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94760" y="3639312"/>
            <a:ext cx="0" cy="219456"/>
          </a:xfrm>
          <a:prstGeom prst="line">
            <a:avLst/>
          </a:prstGeom>
          <a:noFill/>
          <a:ln w="12700">
            <a:solidFill>
              <a:srgbClr val="5C544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931920" y="36758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总结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94560" y="3877056"/>
            <a:ext cx="3200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94560" y="3877056"/>
            <a:ext cx="54864" cy="713232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59152" y="39684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SESSION 观察者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59152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Agent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359152" y="4480560"/>
            <a:ext cx="29260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边界运行 · 发现“反复卡住”的宏观模式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1847088"/>
            <a:ext cx="2926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1847088"/>
            <a:ext cx="54864" cy="713232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19385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外援 · 自然语言推理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25312" y="2139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Informal Agent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25312" y="2450592"/>
            <a:ext cx="265176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Rethlas 或轻量 Gemini 实现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flipV="1">
            <a:off x="5413248" y="2194560"/>
            <a:ext cx="329184" cy="1033272"/>
          </a:xfrm>
          <a:prstGeom prst="line">
            <a:avLst/>
          </a:prstGeom>
          <a:noFill/>
          <a:ln w="11430">
            <a:solidFill>
              <a:srgbClr val="5C544A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440680" y="28620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60720" y="2697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760720" y="2944368"/>
            <a:ext cx="29260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2944368"/>
            <a:ext cx="54864" cy="1645920"/>
          </a:xfrm>
          <a:prstGeom prst="rect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25312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按需加载的指令文档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25312" y="3246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在工作中判断需要哪个 skill，主动读取对应文档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35040" y="35478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如何处理 Mathlib 找不到的引理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编译错误的常见原因与对策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命名规范与 Mathlib 风格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何时决定拆分一个 sorry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26080" y="4681728"/>
            <a:ext cx="164592" cy="164592"/>
          </a:xfrm>
          <a:prstGeom prst="ellipse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4663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60520" y="4681728"/>
            <a:ext cx="164592" cy="164592"/>
          </a:xfrm>
          <a:prstGeom prst="ellipse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79976" y="4663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349240" y="4681728"/>
            <a:ext cx="164592" cy="164592"/>
          </a:xfrm>
          <a:prstGeom prst="ellipse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68696" y="4663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架构总览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PART 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是什么、怎么工作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一种用来写机器可验证证明的语言——一旦通过核心验证器，证明在逻辑层面无懈可击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4023360" cy="1554480"/>
          </a:xfrm>
          <a:prstGeom prst="rect">
            <a:avLst/>
          </a:prstGeom>
          <a:solidFill>
            <a:srgbClr val="F7F3EB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155448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1984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形式化证明语言（functional + 定理证明器）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一个极小的核心验证器（trusted kernel）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通过核验的证明 = 逻辑层面绝对正确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机器不会漏看，也不会被花言巧语骗过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1554480"/>
          </a:xfrm>
          <a:prstGeom prst="rect">
            <a:avLst/>
          </a:prstGeom>
          <a:solidFill>
            <a:srgbClr val="DEE6E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Mathlib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8032" y="1984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的社区数学库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23317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7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267K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28032" y="27614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已形式化定理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7A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2761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 · 770+ 贡献者维护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4023360" cy="1417320"/>
          </a:xfrm>
          <a:prstGeom prst="rect">
            <a:avLst/>
          </a:prstGeom>
          <a:solidFill>
            <a:srgbClr val="2C2620"/>
          </a:solidFill>
          <a:ln w="12700">
            <a:solidFill>
              <a:srgbClr val="2C26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一个真正的 Lean 证明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675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4A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</a:t>
            </a:r>
            <a:pPr indent="0" marL="0">
              <a:buNone/>
            </a:pPr>
            <a:r>
              <a:rPr lang="en-US" sz="1100" dirty="0">
                <a:solidFill>
                  <a:srgbClr val="F2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one_plus_one </a:t>
            </a:r>
            <a:pPr indent="0" marL="0">
              <a:buNone/>
            </a:pPr>
            <a:r>
              <a:rPr lang="en-US" sz="1100" dirty="0">
                <a:solidFill>
                  <a:srgbClr val="A8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2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+ 1 = 2 </a:t>
            </a:r>
            <a:pPr indent="0" marL="0">
              <a:buNone/>
            </a:pPr>
            <a:r>
              <a:rPr lang="en-US" sz="1100" dirty="0">
                <a:solidFill>
                  <a:srgbClr val="A8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:=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D4A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6C8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rfl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按定义展开即可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297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 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一行证明“1+1=2”。</a:t>
            </a:r>
            <a:pPr indent="0" marL="0">
              <a:buNone/>
            </a:pPr>
            <a:r>
              <a:rPr lang="en-US" sz="950" dirty="0">
                <a:solidFill>
                  <a:srgbClr val="96C8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rfl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reflexivity；核心验证器接受这个证明。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337560"/>
            <a:ext cx="4023360" cy="1417320"/>
          </a:xfrm>
          <a:prstGeom prst="rect">
            <a:avLst/>
          </a:prstGeom>
          <a:solidFill>
            <a:srgbClr val="2C2620"/>
          </a:solidFill>
          <a:ln w="12700">
            <a:solidFill>
              <a:srgbClr val="2C26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 · Archon 的核心脚手架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3675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4A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</a:t>
            </a:r>
            <a:pPr indent="0" marL="0">
              <a:buNone/>
            </a:pPr>
            <a:r>
              <a:rPr lang="en-US" sz="1100" dirty="0">
                <a:solidFill>
                  <a:srgbClr val="F2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sqrt2_irr </a:t>
            </a:r>
            <a:pPr indent="0" marL="0">
              <a:buNone/>
            </a:pPr>
            <a:r>
              <a:rPr lang="en-US" sz="1100" dirty="0">
                <a:solidFill>
                  <a:srgbClr val="A8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2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Irrational (√2) </a:t>
            </a:r>
            <a:pPr indent="0" marL="0">
              <a:buNone/>
            </a:pPr>
            <a:r>
              <a:rPr lang="en-US" sz="1100" dirty="0">
                <a:solidFill>
                  <a:srgbClr val="A8A0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:=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rgbClr val="D4A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sorry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100" i="1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先挖个坑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4297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 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陈述已写、证明未填。编译通过（带警告）。Archon 先搭骨架再逐个消除 sorry——全消完即证毕。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Lean 入门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PART III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走一遍：形式化 “√2 是无理数”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Rethlas 风格的自然语言证明，到零 sorry 的 Lean 4 项目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3017520" cy="3246120"/>
          </a:xfrm>
          <a:prstGeom prst="rect">
            <a:avLst/>
          </a:prstGeom>
          <a:solidFill>
            <a:srgbClr val="F7F3EB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3246120"/>
          </a:xfrm>
          <a:prstGeom prst="rect">
            <a:avLst/>
          </a:prstGeom>
          <a:solidFill>
            <a:srgbClr val="B5784A"/>
          </a:solidFill>
          <a:ln w="12700">
            <a:solidFill>
              <a:srgbClr val="B578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91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 · 自然语言证明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√2 是无理数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240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反证。设 √2 = p/q 其中 p, q ∈ ℕ </a:t>
            </a:r>
            <a:pPr indent="0" marL="0">
              <a:buNone/>
            </a:pPr>
            <a:r>
              <a:rPr lang="en-US" sz="1050" b="1" dirty="0">
                <a:solidFill>
                  <a:srgbClr val="B5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互素 ⚠</a:t>
            </a:r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。平方得 p² = 2q²，所以 </a:t>
            </a:r>
            <a:pPr indent="0" marL="0">
              <a:buNone/>
            </a:pPr>
            <a:r>
              <a:rPr lang="en-US" sz="1050" b="1" dirty="0">
                <a:solidFill>
                  <a:srgbClr val="B5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是偶数 ⚠</a:t>
            </a:r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。写 p = 2k，得 q² = 2k²，故 </a:t>
            </a:r>
            <a:pPr indent="0" marL="0">
              <a:buNone/>
            </a:pPr>
            <a:r>
              <a:rPr lang="en-US" sz="1050" b="1" dirty="0">
                <a:solidFill>
                  <a:srgbClr val="B5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也是偶数 ⚠</a:t>
            </a:r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。但 p, q 都偶数 </a:t>
            </a:r>
            <a:pPr indent="0" marL="0">
              <a:buNone/>
            </a:pPr>
            <a:r>
              <a:rPr lang="en-US" sz="1050" b="1" dirty="0">
                <a:solidFill>
                  <a:srgbClr val="B5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与互素矛盾 ⚠</a:t>
            </a:r>
            <a:pPr indent="0" marL="0">
              <a:buNone/>
            </a:pPr>
            <a:r>
              <a:rPr lang="en-US" sz="10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。∎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3749040"/>
            <a:ext cx="27432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8404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95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对人类无伤大雅的“跳步”，每一个在 Lean 里都是一个独立的 sorry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60020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600200"/>
            <a:ext cx="54864" cy="777240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673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167335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Scaffolding · 搭骨架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23360" y="19293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Agent 读完证明，识别每个跳步 → 单独创建引理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每个引理只写陈述（类型签名），证明体全部 sorry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项目整体可过编译（警告 4 个 sorry）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2468880"/>
            <a:ext cx="4937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468880"/>
            <a:ext cx="54864" cy="1554480"/>
          </a:xfrm>
          <a:prstGeom prst="rect">
            <a:avLst/>
          </a:prstGeom>
          <a:solidFill>
            <a:srgbClr val="C96442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542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92040" y="25420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Proving · 逐个消除 sorry（占 80% 时间）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86200" y="28163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2816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even_of_sq_even</a:t>
            </a:r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LeanSearch 找到 Nat.even_sq → 一行搞定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86200" y="3127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7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rat_exists_coprime_form</a:t>
            </a:r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Mathlib 无完全匹配 → Agent 自己构造（再挖 2 个临时 sorry）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86200" y="34381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3438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coprime_both_even_false</a:t>
            </a:r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几个 tactic：dvd_gcd 后 omega 秒解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86200" y="3749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主定理 sqrt_two_irrational</a:t>
            </a:r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串起 ①②③；中途发现需改骨架 → 回 Scaffolding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49040" y="4114800"/>
            <a:ext cx="4937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4114800"/>
            <a:ext cx="54864" cy="731520"/>
          </a:xfrm>
          <a:prstGeom prst="rect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4187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418795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Polish · 收尾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23360" y="4443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build 通过；扫描无 sorry / axiom 等逃生舱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检查顶层定理与 Challenge.lean 完全等价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√2 Session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细节 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为什么要 Dual-Agent：Plan + Lean 分离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 Agent 长对话中，失败会累积成悲观情绪——这是系统层面要解决的结构问题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5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单 Agent 模式的困境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2057400"/>
            <a:ext cx="3602736" cy="411480"/>
          </a:xfrm>
          <a:prstGeom prst="rect">
            <a:avLst/>
          </a:prstGeom>
          <a:solidFill>
            <a:srgbClr val="EEE9DD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76272"/>
            <a:ext cx="164592" cy="164592"/>
          </a:xfrm>
          <a:prstGeom prst="ellipse">
            <a:avLst/>
          </a:prstGeom>
          <a:solidFill>
            <a:srgbClr val="A65545"/>
          </a:solidFill>
          <a:ln w="12700">
            <a:solidFill>
              <a:srgbClr val="A65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176272"/>
            <a:ext cx="164592" cy="164592"/>
          </a:xfrm>
          <a:prstGeom prst="ellipse">
            <a:avLst/>
          </a:prstGeom>
          <a:solidFill>
            <a:srgbClr val="A65545"/>
          </a:solidFill>
          <a:ln w="12700">
            <a:solidFill>
              <a:srgbClr val="A65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176272"/>
            <a:ext cx="164592" cy="164592"/>
          </a:xfrm>
          <a:prstGeom prst="ellipse">
            <a:avLst/>
          </a:prstGeom>
          <a:solidFill>
            <a:srgbClr val="A65545"/>
          </a:solidFill>
          <a:ln w="12700">
            <a:solidFill>
              <a:srgbClr val="A65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176272"/>
            <a:ext cx="164592" cy="164592"/>
          </a:xfrm>
          <a:prstGeom prst="ellipse">
            <a:avLst/>
          </a:prstGeom>
          <a:solidFill>
            <a:srgbClr val="A65545"/>
          </a:solidFill>
          <a:ln w="12700">
            <a:solidFill>
              <a:srgbClr val="A65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176272"/>
            <a:ext cx="164592" cy="164592"/>
          </a:xfrm>
          <a:prstGeom prst="ellipse">
            <a:avLst/>
          </a:prstGeom>
          <a:solidFill>
            <a:srgbClr val="A65545"/>
          </a:solidFill>
          <a:ln w="12700">
            <a:solidFill>
              <a:srgbClr val="A65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176272"/>
            <a:ext cx="164592" cy="164592"/>
          </a:xfrm>
          <a:prstGeom prst="ellipse">
            <a:avLst/>
          </a:prstGeom>
          <a:solidFill>
            <a:srgbClr val="A65545"/>
          </a:solidFill>
          <a:ln w="12700">
            <a:solidFill>
              <a:srgbClr val="A65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496312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长对话 context · 累积的失败尝试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" y="267004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65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开始“躺平”：愿意放弃难 sorry、绕开问题、甚至主动标记为 “impossible”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60020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6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Archon 的结构解法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19472" y="2057400"/>
            <a:ext cx="1645920" cy="411480"/>
          </a:xfrm>
          <a:prstGeom prst="rect">
            <a:avLst/>
          </a:prstGeom>
          <a:solidFill>
            <a:srgbClr val="F5E4DA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2258568"/>
            <a:ext cx="274320" cy="0"/>
          </a:xfrm>
          <a:prstGeom prst="line">
            <a:avLst/>
          </a:prstGeom>
          <a:noFill/>
          <a:ln w="12700">
            <a:solidFill>
              <a:srgbClr val="2C262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49440" y="2057400"/>
            <a:ext cx="1645920" cy="411480"/>
          </a:xfrm>
          <a:prstGeom prst="rect">
            <a:avLst/>
          </a:prstGeom>
          <a:solidFill>
            <a:srgbClr val="F5E4DA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Lean Agent session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9472" y="24963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干净 context + 新任务书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19472" y="267004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Agent 不看失败日志，只看结构化总结；Lean Agent 带着清晰方向重新出发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Agent 的三种策略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410712"/>
            <a:ext cx="2697480" cy="914400"/>
          </a:xfrm>
          <a:prstGeom prst="rect">
            <a:avLst/>
          </a:prstGeom>
          <a:solidFill>
            <a:srgbClr val="F7F3EB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56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7552" y="3493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37947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 Informal Agent 要更细致的证明步骤，补全自然语言没讲清楚的地方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64408" y="3410712"/>
            <a:ext cx="2697480" cy="914400"/>
          </a:xfrm>
          <a:prstGeom prst="rect">
            <a:avLst/>
          </a:prstGeom>
          <a:solidFill>
            <a:srgbClr val="F7F3EB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3456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94760" y="3493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01568" y="37947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把一个大的 sorry 拆成若干小的 sorry，各个击破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71616" y="3410712"/>
            <a:ext cx="2697480" cy="914400"/>
          </a:xfrm>
          <a:prstGeom prst="rect">
            <a:avLst/>
          </a:prstGeom>
          <a:solidFill>
            <a:srgbClr val="F7F3EB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3456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601968" y="3493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Re-routing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08776" y="37947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换一条完全不同的证明路线，绕开当前卡点（如换证明技术、换引理）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5E4DA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5171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  </a:t>
            </a:r>
            <a:pPr indent="0" marL="0">
              <a:buNone/>
            </a:pPr>
            <a:r>
              <a:rPr lang="en-US" sz="1000" dirty="0">
                <a:solidFill>
                  <a:srgbClr val="2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session 边界运行，跨多轮看趋势：“过去 5 个 session 都在同一文件上反复尝试”——单 session 内的 agent 看不到的宏观信号，由它告诉 Plan Agent。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Dual-Agent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细节 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系统 · 让信息跨 session 传承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猜想形式化 ~80 小时 · 19K 行 Lean · 跨多个 session 完成——靠持久化的文件系统而非单条对话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9525">
            <a:solidFill>
              <a:srgbClr val="D8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3840480" cy="3246120"/>
          </a:xfrm>
          <a:prstGeom prst="rect">
            <a:avLst/>
          </a:prstGeom>
          <a:solidFill>
            <a:srgbClr val="2C2620"/>
          </a:solidFill>
          <a:ln w="12700">
            <a:solidFill>
              <a:srgbClr val="2C26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项目目录结构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9933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950" b="1" dirty="0">
                <a:solidFill>
                  <a:srgbClr val="F2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220370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950" b="1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status/</a:t>
            </a:r>
            <a:pPr indent="0" marL="0">
              <a:buNone/>
            </a:pPr>
            <a:r>
              <a:rPr lang="en-US" sz="950" i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整体状态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241401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workflow_stage.md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62432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per_file_status.md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" y="283464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950" b="1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memory/</a:t>
            </a:r>
            <a:pPr indent="0" marL="0">
              <a:buNone/>
            </a:pPr>
            <a:r>
              <a:rPr lang="en-US" sz="950" i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跨 session 记忆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304495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failed_approaches.md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32552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learned_techniques.md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346557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session_logs/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367588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pPr indent="0" marL="0">
              <a:buNone/>
            </a:pPr>
            <a:r>
              <a:rPr lang="en-US" sz="950" b="1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</a:t>
            </a:r>
            <a:pPr indent="0" marL="0">
              <a:buNone/>
            </a:pPr>
            <a:r>
              <a:rPr lang="en-US" sz="950" i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参考文献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1792" y="38862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jensen_2006.md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" y="409651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</a:t>
            </a:r>
            <a:pPr indent="0" marL="0">
              <a:buNone/>
            </a:pPr>
            <a:r>
              <a:rPr lang="en-US" sz="950" dirty="0">
                <a:solidFill>
                  <a:srgbClr val="D4CF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heitmann_1993.md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430682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pPr indent="0" marL="0">
              <a:buNone/>
            </a:pPr>
            <a:r>
              <a:rPr lang="en-US" sz="950" b="1" dirty="0">
                <a:solidFill>
                  <a:srgbClr val="E8B8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pPr indent="0" marL="0">
              <a:buNone/>
            </a:pPr>
            <a:r>
              <a:rPr lang="en-US" sz="950" i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Lean 代码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" y="4517136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 </a:t>
            </a:r>
            <a:pPr indent="0" marL="0">
              <a:buNone/>
            </a:pPr>
            <a:r>
              <a:rPr lang="en-US" sz="950" dirty="0">
                <a:solidFill>
                  <a:srgbClr val="96C8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Anderson/</a:t>
            </a:r>
            <a:pPr indent="0" marL="0">
              <a:buNone/>
            </a:pPr>
            <a:r>
              <a:rPr lang="en-US" sz="950" i="1" dirty="0">
                <a:solidFill>
                  <a:srgbClr val="C964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19K 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160020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1600200"/>
            <a:ext cx="54864" cy="914400"/>
          </a:xfrm>
          <a:prstGeom prst="rect">
            <a:avLst/>
          </a:prstGeom>
          <a:solidFill>
            <a:srgbClr val="5B7A96"/>
          </a:solidFill>
          <a:ln w="12700">
            <a:solidFill>
              <a:srgbClr val="5B7A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167335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信息怎么跨 session 传递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192938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每轮 Lean/Plan agent 结束前必须写 session 总结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下轮 agent 启动时只读最新状态文档，不读原始对话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“上下文”变成多层存储：热（context）/ 温（memory）/ 冷（references）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2606040"/>
            <a:ext cx="4160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2606040"/>
            <a:ext cx="54864" cy="914400"/>
          </a:xfrm>
          <a:prstGeom prst="rect">
            <a:avLst/>
          </a:prstGeom>
          <a:solidFill>
            <a:srgbClr val="7A9B6E"/>
          </a:solidFill>
          <a:ln w="12700">
            <a:solidFill>
              <a:srgbClr val="7A9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26791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人类专家只做这些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9352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下载付费 PDF（Archon 无法 fetch 的）并放到 references/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（可选）提供证明蓝图，加速困难步骤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项目结束时做最终语义审核——看 30 行 Challenge.lean 够了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26280" y="3611880"/>
            <a:ext cx="4160520" cy="1234440"/>
          </a:xfrm>
          <a:prstGeom prst="rect">
            <a:avLst/>
          </a:prstGeom>
          <a:solidFill>
            <a:srgbClr val="F5E4DA"/>
          </a:solidFill>
          <a:ln w="9525">
            <a:solidFill>
              <a:srgbClr val="C964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3703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最终把关 · Comparator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90872" y="400507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26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Challenge.lean </a:t>
            </a:r>
            <a:pPr indent="0" marL="0">
              <a:buNone/>
            </a:pPr>
            <a:r>
              <a:rPr lang="en-US" sz="1000" dirty="0">
                <a:solidFill>
                  <a:srgbClr val="5C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只写定理陈述（~30 行）。Comparator 自动核查：项目里的 main_theorem 与之完全等价，且没引入任何隐藏 axiom。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90872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人类的信任只需投在“陈述是对的”这一点上——证明的正确性由机器兜底。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37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 · Memory &amp; 验收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4937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Rethlas &amp; Archon: 架构解读</dc:title>
  <dc:subject>PptxGenJS Presentation</dc:subject>
  <dc:creator>Claude</dc:creator>
  <cp:lastModifiedBy>Claude</cp:lastModifiedBy>
  <cp:revision>1</cp:revision>
  <dcterms:created xsi:type="dcterms:W3CDTF">2026-04-22T10:54:40Z</dcterms:created>
  <dcterms:modified xsi:type="dcterms:W3CDTF">2026-04-22T10:54:40Z</dcterms:modified>
</cp:coreProperties>
</file>